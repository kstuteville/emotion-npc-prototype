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Quantico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Quantic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ntico-italic.fntdata"/><Relationship Id="rId25" Type="http://schemas.openxmlformats.org/officeDocument/2006/relationships/font" Target="fonts/Quantico-bold.fntdata"/><Relationship Id="rId28" Type="http://schemas.openxmlformats.org/officeDocument/2006/relationships/font" Target="fonts/Lato-regular.fntdata"/><Relationship Id="rId27" Type="http://schemas.openxmlformats.org/officeDocument/2006/relationships/font" Target="fonts/Quantic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a2e8a5f2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a2e8a5f2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a2e8a5f240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a2e8a5f240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2e8a5f240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a2e8a5f240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a2e8a5f240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a2e8a5f240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2e8a5f240_0_5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a2e8a5f240_0_5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a2e8a5f240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a2e8a5f240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a2e8a5f240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a2e8a5f240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2e8a5f240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a2e8a5f240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a2e8a5f240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a2e8a5f240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a2e8a5f240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a2e8a5f240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a2e8a5f240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a2e8a5f240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a2e8a5f240_0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a2e8a5f240_0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2e8a5f240_0_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a2e8a5f240_0_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a2e8a5f240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a2e8a5f240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a2e8a5f240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a2e8a5f240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2e8a5f240_0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a2e8a5f240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a2e8a5f240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a2e8a5f240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a2e8a5f240_0_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3a2e8a5f240_0_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4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1" name="Google Shape;41;p5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42" name="Google Shape;42;p5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3" name="Google Shape;43;p5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4" name="Google Shape;44;p5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5" name="Google Shape;45;p5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2" name="Google Shape;52;p6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" name="Google Shape;57;p6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58" name="Google Shape;58;p6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6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8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8" name="Google Shape;78;p9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79" name="Google Shape;79;p9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0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7" name="Google Shape;87;p10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88" name="Google Shape;88;p10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2" name="Google Shape;92;p11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3" name="Google Shape;93;p11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4" name="Google Shape;94;p11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5" name="Google Shape;95;p11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6" name="Google Shape;96;p11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2"/>
          <p:cNvPicPr preferRelativeResize="0"/>
          <p:nvPr/>
        </p:nvPicPr>
        <p:blipFill rotWithShape="1">
          <a:blip r:embed="rId2">
            <a:alphaModFix amt="10000"/>
          </a:blip>
          <a:srcRect b="0" l="789" r="12432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04" name="Google Shape;104;p12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5" name="Google Shape;105;p12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6" name="Google Shape;106;p12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7" name="Google Shape;107;p12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2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2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0" name="Google Shape;110;p12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4" name="Google Shape;114;p13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6" name="Google Shape;116;p13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0" name="Google Shape;120;p13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21" name="Google Shape;121;p13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7" name="Google Shape;127;p14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28" name="Google Shape;128;p14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29" name="Google Shape;129;p14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1" name="Google Shape;131;p14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3" name="Google Shape;133;p14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34" name="Google Shape;134;p14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5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5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15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15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8" name="Google Shape;148;p15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15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15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15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5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16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6" name="Google Shape;166;p16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7" name="Google Shape;167;p16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4" name="Google Shape;174;p17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17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9" name="Google Shape;179;p17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0" name="Google Shape;180;p17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1" name="Google Shape;181;p17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17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17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5" name="Google Shape;185;p17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7" name="Google Shape;187;p17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8" name="Google Shape;188;p17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95" name="Google Shape;195;p18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18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1" name="Google Shape;201;p18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18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8" name="Google Shape;208;p18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17" name="Google Shape;217;p19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8" name="Google Shape;218;p19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19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19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19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" name="Google Shape;225;p19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19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19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0" name="Google Shape;230;p19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20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4" name="Google Shape;234;p20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5" name="Google Shape;235;p20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6" name="Google Shape;236;p20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7" name="Google Shape;237;p20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38" name="Google Shape;238;p20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39" name="Google Shape;239;p20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20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47" name="Google Shape;247;p21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1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9" name="Google Shape;249;p21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2" name="Google Shape;252;p21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3" name="Google Shape;253;p21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4" name="Google Shape;254;p21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5" name="Google Shape;255;p21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8" name="Google Shape;258;p2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59" name="Google Shape;259;p2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1" name="Google Shape;261;p22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2" name="Google Shape;262;p22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4" name="Google Shape;264;p22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66" name="Google Shape;266;p22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0" name="Google Shape;290;p23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1" name="Google Shape;291;p23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3" name="Google Shape;293;p23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94" name="Google Shape;294;p23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24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8" name="Google Shape;298;p24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24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0" name="Google Shape;300;p24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2" name="Google Shape;302;p24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3" name="Google Shape;303;p24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07" name="Google Shape;307;p25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6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2" name="Google Shape;312;p26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3" name="Google Shape;313;p26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14" name="Google Shape;314;p26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26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6" name="Google Shape;316;p26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7" name="Google Shape;317;p26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26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19" name="Google Shape;319;p26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0" name="Google Shape;320;p26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2" name="Google Shape;322;p26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23" name="Google Shape;323;p26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7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6" name="Google Shape;326;p27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7" name="Google Shape;327;p27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29" name="Google Shape;329;p27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30" name="Google Shape;330;p27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27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27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3" name="Google Shape;333;p27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8" name="Google Shape;34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9" name="Google Shape;34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" name="Google Shape;35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9" name="Google Shape;35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6" name="Google Shape;36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67" name="Google Shape;36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0" name="Google Shape;37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1" name="Google Shape;37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2" name="Google Shape;37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3" name="Google Shape;37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6" name="Google Shape;37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77" name="Google Shape;37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8" name="Google Shape;37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4" name="Google Shape;38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6" name="Google Shape;38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7" name="Google Shape;39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0" name="Google Shape;40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2" name="Google Shape;40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5" name="Google Shape;40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8" name="Google Shape;40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0" name="Google Shape;41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2" name="Google Shape;41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4" name="Google Shape;42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Kstuteville/Emotion-NPC-Prototype/blob/main/README.md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Relationship Id="rId4" Type="http://schemas.openxmlformats.org/officeDocument/2006/relationships/image" Target="../media/image9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document/d/1gb5iewcSD-IBlK4pZFEh0Ck1iWSjtq4nmw8dzyOMNxc/edit?tab=t.0#heading=h.zcl1tk3htmil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Kstuteville/Emotion-NPC-Prototyp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forms/d/1b9kZnlHlpsBSOXF65w3nEB_w9ybH_HMNjy4xWWOr4V8/edit#question=2020787386&amp;field=492904719" TargetMode="External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document/d/1aC1gnfLmV-rVHHeTLQ0Rkk2ZaCawcz-V1Vk35924LtA/edit?usp=sharing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7"/>
          <p:cNvSpPr txBox="1"/>
          <p:nvPr>
            <p:ph type="title"/>
          </p:nvPr>
        </p:nvSpPr>
        <p:spPr>
          <a:xfrm>
            <a:off x="876900" y="874250"/>
            <a:ext cx="62868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Phase 3: Research with Stakeholders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8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Research Focus: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37" name="Google Shape;437;p48"/>
          <p:cNvSpPr txBox="1"/>
          <p:nvPr>
            <p:ph idx="2" type="title"/>
          </p:nvPr>
        </p:nvSpPr>
        <p:spPr>
          <a:xfrm>
            <a:off x="857250" y="1881950"/>
            <a:ext cx="7226700" cy="232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i="1" lang="en" sz="1500">
                <a:latin typeface="Arial"/>
                <a:ea typeface="Arial"/>
                <a:cs typeface="Arial"/>
                <a:sym typeface="Arial"/>
              </a:rPr>
              <a:t>Investigating whether emotionally responsive AI (NPCs that react to player emotions in real time) create stronger feelings of immersion, empathy, and presence compared to non-responsive NPCs.</a:t>
            </a:r>
            <a:endParaRPr i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i="1" sz="15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i="1" lang="en" sz="1400"/>
              <a:t>Link to Github with all information/ notes/ code </a:t>
            </a:r>
            <a:r>
              <a:rPr i="1" lang="en" sz="1400" u="sng">
                <a:hlinkClick r:id="rId3"/>
              </a:rPr>
              <a:t>https://github.com/Kstuteville/Emotion-NPC-Prototype/blob/main/README.md</a:t>
            </a:r>
            <a:r>
              <a:rPr i="1" lang="en" sz="1400"/>
              <a:t> </a:t>
            </a:r>
            <a:endParaRPr i="1" sz="14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an facing the camera in an office while working on computer" id="442" name="Google Shape;442;p4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3653" l="1560" r="18426" t="32359"/>
          <a:stretch/>
        </p:blipFill>
        <p:spPr>
          <a:xfrm>
            <a:off x="1801500" y="1497750"/>
            <a:ext cx="1801498" cy="1822500"/>
          </a:xfrm>
          <a:prstGeom prst="rect">
            <a:avLst/>
          </a:prstGeom>
        </p:spPr>
      </p:pic>
      <p:pic>
        <p:nvPicPr>
          <p:cNvPr descr="A man in a shirt and sweater smiles in an office. " id="443" name="Google Shape;443;p49"/>
          <p:cNvPicPr preferRelativeResize="0"/>
          <p:nvPr>
            <p:ph idx="7" type="pic"/>
          </p:nvPr>
        </p:nvPicPr>
        <p:blipFill rotWithShape="1">
          <a:blip r:embed="rId4">
            <a:alphaModFix/>
          </a:blip>
          <a:srcRect b="13560" l="40416" r="11501" t="13568"/>
          <a:stretch/>
        </p:blipFill>
        <p:spPr>
          <a:xfrm>
            <a:off x="3603000" y="3320250"/>
            <a:ext cx="1801498" cy="1822501"/>
          </a:xfrm>
          <a:prstGeom prst="rect">
            <a:avLst/>
          </a:prstGeom>
        </p:spPr>
      </p:pic>
      <p:pic>
        <p:nvPicPr>
          <p:cNvPr descr="A man with glasses looks at the camera. " id="444" name="Google Shape;444;p49"/>
          <p:cNvPicPr preferRelativeResize="0"/>
          <p:nvPr>
            <p:ph idx="3" type="pic"/>
          </p:nvPr>
        </p:nvPicPr>
        <p:blipFill rotWithShape="1">
          <a:blip r:embed="rId5">
            <a:alphaModFix/>
          </a:blip>
          <a:srcRect b="24868" l="41724" r="8737" t="0"/>
          <a:stretch/>
        </p:blipFill>
        <p:spPr>
          <a:xfrm>
            <a:off x="1801500" y="3320250"/>
            <a:ext cx="1801498" cy="1822500"/>
          </a:xfrm>
          <a:prstGeom prst="rect">
            <a:avLst/>
          </a:prstGeom>
        </p:spPr>
      </p:pic>
      <p:pic>
        <p:nvPicPr>
          <p:cNvPr descr="A woman stands in front of a board with graphs and printouts. " id="445" name="Google Shape;445;p49"/>
          <p:cNvPicPr preferRelativeResize="0"/>
          <p:nvPr>
            <p:ph idx="4" type="pic"/>
          </p:nvPr>
        </p:nvPicPr>
        <p:blipFill rotWithShape="1">
          <a:blip r:embed="rId6">
            <a:alphaModFix/>
          </a:blip>
          <a:srcRect b="13673" l="38154" r="10422" t="7869"/>
          <a:stretch/>
        </p:blipFill>
        <p:spPr>
          <a:xfrm>
            <a:off x="0" y="1497750"/>
            <a:ext cx="1801498" cy="1822501"/>
          </a:xfrm>
          <a:prstGeom prst="rect">
            <a:avLst/>
          </a:prstGeom>
        </p:spPr>
      </p:pic>
      <p:pic>
        <p:nvPicPr>
          <p:cNvPr descr="A smiling woman in an office stands for a portrait. " id="446" name="Google Shape;446;p49"/>
          <p:cNvPicPr preferRelativeResize="0"/>
          <p:nvPr>
            <p:ph idx="5" type="pic"/>
          </p:nvPr>
        </p:nvPicPr>
        <p:blipFill rotWithShape="1">
          <a:blip r:embed="rId7">
            <a:alphaModFix/>
          </a:blip>
          <a:srcRect b="26101" l="45452" r="5787" t="0"/>
          <a:stretch/>
        </p:blipFill>
        <p:spPr>
          <a:xfrm>
            <a:off x="0" y="3320250"/>
            <a:ext cx="1801498" cy="1822501"/>
          </a:xfrm>
          <a:prstGeom prst="rect">
            <a:avLst/>
          </a:prstGeom>
        </p:spPr>
      </p:pic>
      <p:pic>
        <p:nvPicPr>
          <p:cNvPr descr="A woman wearing glasses smiles for the camera. " id="447" name="Google Shape;447;p49"/>
          <p:cNvPicPr preferRelativeResize="0"/>
          <p:nvPr>
            <p:ph idx="6" type="pic"/>
          </p:nvPr>
        </p:nvPicPr>
        <p:blipFill rotWithShape="1">
          <a:blip r:embed="rId8">
            <a:alphaModFix/>
          </a:blip>
          <a:srcRect b="15072" l="39422" r="10874" t="9483"/>
          <a:stretch/>
        </p:blipFill>
        <p:spPr>
          <a:xfrm>
            <a:off x="3603000" y="1497750"/>
            <a:ext cx="1801498" cy="1822500"/>
          </a:xfrm>
          <a:prstGeom prst="rect">
            <a:avLst/>
          </a:prstGeom>
        </p:spPr>
      </p:pic>
      <p:sp>
        <p:nvSpPr>
          <p:cNvPr descr="Shape where the text box for the name and title goes" id="448" name="Google Shape;448;p49"/>
          <p:cNvSpPr/>
          <p:nvPr/>
        </p:nvSpPr>
        <p:spPr>
          <a:xfrm>
            <a:off x="0" y="2790975"/>
            <a:ext cx="1807500" cy="530400"/>
          </a:xfrm>
          <a:prstGeom prst="snip1Rect">
            <a:avLst>
              <a:gd fmla="val 41264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Shape where the text box for the name and title goes" id="449" name="Google Shape;449;p49"/>
          <p:cNvSpPr/>
          <p:nvPr/>
        </p:nvSpPr>
        <p:spPr>
          <a:xfrm>
            <a:off x="1807500" y="2790975"/>
            <a:ext cx="1795500" cy="530400"/>
          </a:xfrm>
          <a:prstGeom prst="snip1Rect">
            <a:avLst>
              <a:gd fmla="val 41264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Shape where the text box for the name and title goes" id="450" name="Google Shape;450;p49"/>
          <p:cNvSpPr/>
          <p:nvPr/>
        </p:nvSpPr>
        <p:spPr>
          <a:xfrm>
            <a:off x="0" y="4575400"/>
            <a:ext cx="1807500" cy="569700"/>
          </a:xfrm>
          <a:prstGeom prst="snip1Rect">
            <a:avLst>
              <a:gd fmla="val 41264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Shape where the text box for the name and title goes" id="451" name="Google Shape;451;p49"/>
          <p:cNvSpPr/>
          <p:nvPr/>
        </p:nvSpPr>
        <p:spPr>
          <a:xfrm>
            <a:off x="1807500" y="4575400"/>
            <a:ext cx="1795500" cy="569700"/>
          </a:xfrm>
          <a:prstGeom prst="snip1Rect">
            <a:avLst>
              <a:gd fmla="val 41264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Shape where the text box for the name and title goes" id="452" name="Google Shape;452;p49"/>
          <p:cNvSpPr/>
          <p:nvPr/>
        </p:nvSpPr>
        <p:spPr>
          <a:xfrm>
            <a:off x="3602900" y="2799725"/>
            <a:ext cx="1801500" cy="530400"/>
          </a:xfrm>
          <a:prstGeom prst="snip1Rect">
            <a:avLst>
              <a:gd fmla="val 4126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Shape where the text box for the name and title goes" id="453" name="Google Shape;453;p49"/>
          <p:cNvSpPr/>
          <p:nvPr/>
        </p:nvSpPr>
        <p:spPr>
          <a:xfrm>
            <a:off x="3602900" y="4575400"/>
            <a:ext cx="1801500" cy="569700"/>
          </a:xfrm>
          <a:prstGeom prst="snip1Rect">
            <a:avLst>
              <a:gd fmla="val 4126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Slide theme title" id="454" name="Google Shape;454;p49"/>
          <p:cNvSpPr txBox="1"/>
          <p:nvPr>
            <p:ph idx="1" type="subTitle"/>
          </p:nvPr>
        </p:nvSpPr>
        <p:spPr>
          <a:xfrm>
            <a:off x="5510675" y="1776150"/>
            <a:ext cx="30810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Identifying Stakeholders</a:t>
            </a:r>
            <a:endParaRPr/>
          </a:p>
        </p:txBody>
      </p:sp>
      <p:sp>
        <p:nvSpPr>
          <p:cNvPr descr="Space to add employee's name and title" id="455" name="Google Shape;455;p49"/>
          <p:cNvSpPr txBox="1"/>
          <p:nvPr>
            <p:ph idx="4294967295" type="subTitle"/>
          </p:nvPr>
        </p:nvSpPr>
        <p:spPr>
          <a:xfrm>
            <a:off x="1937021" y="2930217"/>
            <a:ext cx="14679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None/>
            </a:pPr>
            <a:r>
              <a:rPr b="1" lang="en">
                <a:solidFill>
                  <a:schemeClr val="dk1"/>
                </a:solidFill>
              </a:rPr>
              <a:t>Academic Advisors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Ensure rigour and advise on affective computing ethics</a:t>
            </a:r>
            <a:endParaRPr sz="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descr="Space to add employee's name and title" id="456" name="Google Shape;456;p49"/>
          <p:cNvSpPr txBox="1"/>
          <p:nvPr>
            <p:ph idx="4294967295" type="subTitle"/>
          </p:nvPr>
        </p:nvSpPr>
        <p:spPr>
          <a:xfrm>
            <a:off x="3723838" y="2930217"/>
            <a:ext cx="14679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Peer/Collaborators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UX and emotional design feedback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descr="Space to add employee's name and title" id="457" name="Google Shape;457;p49"/>
          <p:cNvSpPr txBox="1"/>
          <p:nvPr>
            <p:ph idx="4294967295" type="subTitle"/>
          </p:nvPr>
        </p:nvSpPr>
        <p:spPr>
          <a:xfrm>
            <a:off x="3725698" y="4757178"/>
            <a:ext cx="15843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Ethics-Minded Participants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Surface fears, trust issues, and ethical implications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descr="Space to add employee's name and title" id="458" name="Google Shape;458;p49"/>
          <p:cNvSpPr txBox="1"/>
          <p:nvPr>
            <p:ph idx="4294967295" type="subTitle"/>
          </p:nvPr>
        </p:nvSpPr>
        <p:spPr>
          <a:xfrm>
            <a:off x="1938881" y="4757178"/>
            <a:ext cx="14679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Narrative Stakeholders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whether emotion-driven responses fit character tone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descr="Space to add employee's name and title" id="459" name="Google Shape;459;p49"/>
          <p:cNvSpPr txBox="1"/>
          <p:nvPr>
            <p:ph idx="4294967295" type="subTitle"/>
          </p:nvPr>
        </p:nvSpPr>
        <p:spPr>
          <a:xfrm>
            <a:off x="122033" y="4757178"/>
            <a:ext cx="14679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Researchers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descr="Space to add employee's name and title" id="460" name="Google Shape;460;p49"/>
          <p:cNvSpPr txBox="1"/>
          <p:nvPr>
            <p:ph idx="4294967295" type="subTitle"/>
          </p:nvPr>
        </p:nvSpPr>
        <p:spPr>
          <a:xfrm>
            <a:off x="120173" y="2930217"/>
            <a:ext cx="1467900" cy="26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Players/ Gamers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 emotional impact and comfort levels of emotion-aware AI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0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500"/>
              <a:t>Research Question + Hypothesis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66" name="Google Shape;466;p50"/>
          <p:cNvSpPr txBox="1"/>
          <p:nvPr>
            <p:ph idx="2" type="title"/>
          </p:nvPr>
        </p:nvSpPr>
        <p:spPr>
          <a:xfrm>
            <a:off x="2051475" y="17723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RQ: </a:t>
            </a:r>
            <a:r>
              <a:rPr lang="en" sz="1100"/>
              <a:t>Does an emotionally responsive AI NPC make players feel more connected, immersed, and emotionally understood than a neutral, non-responsive one?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Hypothesis: </a:t>
            </a:r>
            <a:r>
              <a:rPr lang="en" sz="1100"/>
              <a:t>Players will report higher emotional engagement and presence when NPCs show adaptive empathy or mood mirroring.</a:t>
            </a:r>
            <a:endParaRPr sz="1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1"/>
          <p:cNvSpPr/>
          <p:nvPr/>
        </p:nvSpPr>
        <p:spPr>
          <a:xfrm>
            <a:off x="7002862" y="619550"/>
            <a:ext cx="2141100" cy="15099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72" name="Google Shape;472;p51"/>
          <p:cNvSpPr/>
          <p:nvPr/>
        </p:nvSpPr>
        <p:spPr>
          <a:xfrm>
            <a:off x="2825150" y="2125400"/>
            <a:ext cx="2325900" cy="15099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473" name="Google Shape;473;p51"/>
          <p:cNvSpPr/>
          <p:nvPr/>
        </p:nvSpPr>
        <p:spPr>
          <a:xfrm>
            <a:off x="6865599" y="3637100"/>
            <a:ext cx="2278200" cy="15099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lide theme title" id="474" name="Google Shape;474;p51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Overview of Methods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(and links to the notes)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descr="Slide theme subtitle" id="475" name="Google Shape;475;p51"/>
          <p:cNvSpPr txBox="1"/>
          <p:nvPr>
            <p:ph idx="5" type="title"/>
          </p:nvPr>
        </p:nvSpPr>
        <p:spPr>
          <a:xfrm>
            <a:off x="7070800" y="619550"/>
            <a:ext cx="21003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Academic Literature Review</a:t>
            </a:r>
            <a:endParaRPr/>
          </a:p>
        </p:txBody>
      </p:sp>
      <p:sp>
        <p:nvSpPr>
          <p:cNvPr descr="Slide theme subtitle" id="476" name="Google Shape;476;p51"/>
          <p:cNvSpPr txBox="1"/>
          <p:nvPr>
            <p:ph idx="6" type="title"/>
          </p:nvPr>
        </p:nvSpPr>
        <p:spPr>
          <a:xfrm>
            <a:off x="2956800" y="2347062"/>
            <a:ext cx="2442000" cy="44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Player Pre Survey (google form)</a:t>
            </a:r>
            <a:endParaRPr/>
          </a:p>
        </p:txBody>
      </p:sp>
      <p:sp>
        <p:nvSpPr>
          <p:cNvPr descr="Slide theme subtitle" id="477" name="Google Shape;477;p51"/>
          <p:cNvSpPr txBox="1"/>
          <p:nvPr>
            <p:ph idx="7" type="title"/>
          </p:nvPr>
        </p:nvSpPr>
        <p:spPr>
          <a:xfrm>
            <a:off x="7002850" y="3649000"/>
            <a:ext cx="2236200" cy="134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Observation</a:t>
            </a:r>
            <a:r>
              <a:rPr lang="en"/>
              <a:t> Playthrough study</a:t>
            </a:r>
            <a:endParaRPr/>
          </a:p>
        </p:txBody>
      </p:sp>
      <p:sp>
        <p:nvSpPr>
          <p:cNvPr descr="Slide theme description" id="478" name="Google Shape;478;p51"/>
          <p:cNvSpPr txBox="1"/>
          <p:nvPr>
            <p:ph idx="1" type="body"/>
          </p:nvPr>
        </p:nvSpPr>
        <p:spPr>
          <a:xfrm>
            <a:off x="3003727" y="2655075"/>
            <a:ext cx="21003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Finds a baseline towards players attitude towards Npcs in games. </a:t>
            </a:r>
            <a:r>
              <a:rPr lang="en" sz="1100"/>
              <a:t>Measure broad attitudes toward emotionally responsive AI; gauge comfort, curiosity, and trust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descr="Slide theme description" id="479" name="Google Shape;479;p51"/>
          <p:cNvSpPr txBox="1"/>
          <p:nvPr>
            <p:ph idx="8" type="body"/>
          </p:nvPr>
        </p:nvSpPr>
        <p:spPr>
          <a:xfrm>
            <a:off x="7138550" y="3897950"/>
            <a:ext cx="18243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Using referenced games in Academic Literature and results from survey,  I gather and </a:t>
            </a:r>
            <a:r>
              <a:rPr lang="en"/>
              <a:t>Observe how real players emotionally engage with NPCs across different games (emotion-aware vs neutral)</a:t>
            </a:r>
            <a:endParaRPr/>
          </a:p>
        </p:txBody>
      </p:sp>
      <p:sp>
        <p:nvSpPr>
          <p:cNvPr descr="Slide theme description" id="480" name="Google Shape;480;p51"/>
          <p:cNvSpPr txBox="1"/>
          <p:nvPr>
            <p:ph idx="9" type="body"/>
          </p:nvPr>
        </p:nvSpPr>
        <p:spPr>
          <a:xfrm>
            <a:off x="7130800" y="888950"/>
            <a:ext cx="1971900" cy="1587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To ground my prototype in existing theory and identify research gaps.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700"/>
          </a:p>
        </p:txBody>
      </p:sp>
      <p:sp>
        <p:nvSpPr>
          <p:cNvPr id="481" name="Google Shape;481;p51"/>
          <p:cNvSpPr txBox="1"/>
          <p:nvPr/>
        </p:nvSpPr>
        <p:spPr>
          <a:xfrm>
            <a:off x="6145675" y="3067850"/>
            <a:ext cx="30255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https://docs.google.com/document/d/1aC1gnfLmV-rVHHeTLQ0Rkk2ZaCawcz-V1Vk35924LtA/edit?usp=sharing</a:t>
            </a:r>
            <a:endParaRPr sz="10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" name="Google Shape;482;p51"/>
          <p:cNvSpPr txBox="1"/>
          <p:nvPr/>
        </p:nvSpPr>
        <p:spPr>
          <a:xfrm>
            <a:off x="332200" y="3716350"/>
            <a:ext cx="433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https://docs.google.com/forms/d/1b9kZnlHlpsBSOXF65w3nEB_w9ybH_HMNjy4xWWOr4V8/edit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3" name="Google Shape;483;p51"/>
          <p:cNvSpPr txBox="1"/>
          <p:nvPr/>
        </p:nvSpPr>
        <p:spPr>
          <a:xfrm>
            <a:off x="4364450" y="86600"/>
            <a:ext cx="42120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 sz="11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https://docs.google.com/document/d/1gb5iewcSD-IBlK4pZFEh0Ck1iWSjtq4nmw8dzyOMNxc/edit?tab=t.0#heading=h.zcl1tk3htmil</a:t>
            </a: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84" name="Google Shape;484;p51" title="Screenshot 2025-11-12 at 10.10.0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400" y="3663091"/>
            <a:ext cx="2278200" cy="1457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51" title="Screenshot 2025-11-12 at 10.11.5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852" y="2125075"/>
            <a:ext cx="2100300" cy="145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1" title="Screenshot 2025-11-12 at 10.12.30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53775" y="645251"/>
            <a:ext cx="2100306" cy="1452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2"/>
          <p:cNvSpPr txBox="1"/>
          <p:nvPr>
            <p:ph type="title"/>
          </p:nvPr>
        </p:nvSpPr>
        <p:spPr>
          <a:xfrm>
            <a:off x="0" y="128275"/>
            <a:ext cx="5283600" cy="85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>
                <a:solidFill>
                  <a:schemeClr val="accent6"/>
                </a:solidFill>
              </a:rPr>
              <a:t>Academic Lit Review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92" name="Google Shape;492;p52"/>
          <p:cNvSpPr txBox="1"/>
          <p:nvPr>
            <p:ph idx="2" type="title"/>
          </p:nvPr>
        </p:nvSpPr>
        <p:spPr>
          <a:xfrm>
            <a:off x="60800" y="794500"/>
            <a:ext cx="4511700" cy="472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6"/>
                </a:solidFill>
              </a:rPr>
              <a:t>All notes accessible on Github: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https://github.com/Kstuteville/Emotion-NPC-Prototype</a:t>
            </a:r>
            <a:r>
              <a:rPr lang="en">
                <a:solidFill>
                  <a:schemeClr val="accent6"/>
                </a:solidFill>
              </a:rPr>
              <a:t> 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6"/>
                </a:solidFill>
              </a:rPr>
              <a:t>Key Texts Read: 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</a:rPr>
              <a:t>1. The Oxford Handbook of Affective Computing (Calvo et al., 2015)</a:t>
            </a:r>
            <a:endParaRPr b="1" sz="11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</a:rPr>
              <a:t>2. Emotion Recognition in Conversation (Poria et al., 2019)</a:t>
            </a:r>
            <a:endParaRPr b="1" sz="11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FFFFFF"/>
                </a:solidFill>
              </a:rPr>
              <a:t>3. Emotion Recognition in Conversation with Multi-Step Prompting Using LLMs (Hama et al., 2024)</a:t>
            </a:r>
            <a:endParaRPr b="1" sz="11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descr="A question mark icon." id="493" name="Google Shape;493;p52"/>
          <p:cNvSpPr txBox="1"/>
          <p:nvPr/>
        </p:nvSpPr>
        <p:spPr>
          <a:xfrm>
            <a:off x="4511725" y="52575"/>
            <a:ext cx="4511700" cy="50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Main Ideas Across All Texts</a:t>
            </a:r>
            <a:endParaRPr b="1" sz="1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b="1"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Emotion is contextual and dynamic.</a:t>
            </a:r>
            <a: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Effective systems must track changes over time, not just single snapshots.</a:t>
            </a:r>
            <a:b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b="1"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Multimodal cues improve accuracy.</a:t>
            </a:r>
            <a: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Facial expression alone is limited; gameplay behavior, voice tone, and context help resolve ambiguity.</a:t>
            </a:r>
            <a:b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b="1"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affective loop matters.</a:t>
            </a:r>
            <a: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Sensing → interpreting → responding → user reaction forms a continuous cycle that shapes experience.</a:t>
            </a:r>
            <a:b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b="1"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Misrecognition is inevitable.</a:t>
            </a:r>
            <a: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Systems need strategies for ambiguity, sarcasm, and masked expressions.</a:t>
            </a:r>
            <a:b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b="1"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Reasoning layers add depth.</a:t>
            </a:r>
            <a: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LLM-based interpretation can connect emotion to cause, narrative context, and player history.</a:t>
            </a:r>
            <a:b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b="1"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Evaluation must be both technical and experiential.</a:t>
            </a:r>
            <a: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Accuracy, latency, presence, empathy, and “aliveness” all need measurement.</a:t>
            </a:r>
            <a:b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b="1"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Narrative grounding strengthens believability.</a:t>
            </a:r>
            <a: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Emotion-aware behaviors must fit the world and character logic.</a:t>
            </a:r>
            <a:br>
              <a:rPr lang="en" sz="11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 sz="11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3"/>
          <p:cNvSpPr txBox="1"/>
          <p:nvPr>
            <p:ph type="title"/>
          </p:nvPr>
        </p:nvSpPr>
        <p:spPr>
          <a:xfrm>
            <a:off x="966700" y="66832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Player Survey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99" name="Google Shape;499;p53"/>
          <p:cNvSpPr txBox="1"/>
          <p:nvPr>
            <p:ph idx="13" type="title"/>
          </p:nvPr>
        </p:nvSpPr>
        <p:spPr>
          <a:xfrm>
            <a:off x="966700" y="1417525"/>
            <a:ext cx="2331600" cy="162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Goal: Capture attitudes, beliefs and expectations about NPCs  in games.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Sampled 30+ people, targeting </a:t>
            </a:r>
            <a:r>
              <a:rPr lang="en"/>
              <a:t>specifically</a:t>
            </a:r>
            <a:r>
              <a:rPr lang="en"/>
              <a:t> people with gaming experience, game designers, and academics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/>
              <a:t>Link to form 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https://docs.google.com/forms/d/1b9kZnlHlpsBSOXF65w3nEB_w9ybH_HMNjy4xWWOr4V8/edit#question=2020787386&amp;field=492904719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</p:txBody>
      </p:sp>
      <p:pic>
        <p:nvPicPr>
          <p:cNvPr id="500" name="Google Shape;500;p53" title="Screenshot 2025-11-12 at 7.41.5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2092" y="284962"/>
            <a:ext cx="2523669" cy="457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4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Overall answers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06" name="Google Shape;506;p54"/>
          <p:cNvSpPr txBox="1"/>
          <p:nvPr>
            <p:ph idx="2" type="title"/>
          </p:nvPr>
        </p:nvSpPr>
        <p:spPr>
          <a:xfrm>
            <a:off x="920550" y="1881950"/>
            <a:ext cx="6665700" cy="2056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Across 30+ responses, players consistently describe emotionally responsive NPCs as </a:t>
            </a:r>
            <a:r>
              <a:rPr b="1" lang="en" sz="1700">
                <a:latin typeface="Arial"/>
                <a:ea typeface="Arial"/>
                <a:cs typeface="Arial"/>
                <a:sym typeface="Arial"/>
              </a:rPr>
              <a:t>more immersive, more meaningful, and more alive—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700">
                <a:latin typeface="Arial"/>
                <a:ea typeface="Arial"/>
                <a:cs typeface="Arial"/>
                <a:sym typeface="Arial"/>
              </a:rPr>
              <a:t>but only when done in a way that supports player agency and doesn’t break roleplay.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5"/>
          <p:cNvSpPr txBox="1"/>
          <p:nvPr>
            <p:ph type="title"/>
          </p:nvPr>
        </p:nvSpPr>
        <p:spPr>
          <a:xfrm>
            <a:off x="474675" y="4746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of Form</a:t>
            </a:r>
            <a:endParaRPr/>
          </a:p>
        </p:txBody>
      </p:sp>
      <p:pic>
        <p:nvPicPr>
          <p:cNvPr descr="Forms response chart. Question title: How often do you play video games?. Number of responses: 33 responses." id="512" name="Google Shape;512;p55" title="How often do you play video games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000" y="1015575"/>
            <a:ext cx="4599199" cy="193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s response chart. Question title: What types of games do you play most? (Check all that apply). Number of responses: 33 responses." id="513" name="Google Shape;513;p55" title="What types of games do you play most? (Check all that apply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1256" y="2454875"/>
            <a:ext cx="5315845" cy="252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Is there any games in particular that stood out to you in terms of NPC engagement/ characters that feel the most &quot;alive&quot;?. Number of responses: 33 responses." id="518" name="Google Shape;518;p56" title="Is there any games in particular that stood out to you in terms of NPC engagement/ characters that feel the most &quot;alive&quot;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702" y="202597"/>
            <a:ext cx="5019151" cy="2546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s response chart. Question title: On a scale from 1–5, how emotionally connected do you usually feel to NPCs in games?. Number of responses: 33 responses." id="519" name="Google Shape;519;p56" title="On a scale from 1–5, how emotionally connected do you usually feel to NPCs in games?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3101" y="2661299"/>
            <a:ext cx="4627850" cy="219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On a scale from 1–5,  how much attention do you give to NPCs?. Number of responses: 33 responses." id="524" name="Google Shape;524;p57" title="On a scale from 1–5,  how much attention do you give to NPCs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00" y="157333"/>
            <a:ext cx="5351101" cy="2539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s response chart. Question title: What makes an NPC feel emotionally real to you?(select all that apply). Number of responses: 33 responses." id="525" name="Google Shape;525;p57" title="What makes an NPC feel emotionally real to you?(select all that apply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03175" y="2348025"/>
            <a:ext cx="5106099" cy="24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What motivates you to interact with NPCS (select all that apply). Number of responses: 33 responses." id="530" name="Google Shape;530;p58" title="What motivates you to interact with NPCS (select all that apply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48" y="45374"/>
            <a:ext cx="5544699" cy="2631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s response chart. Question title: What usually makes you ignore NPCs?. Number of responses: 33 responses." id="531" name="Google Shape;531;p58" title="What usually makes you ignore NPCs?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9426" y="2017202"/>
            <a:ext cx="6303150" cy="2991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If NPCs could emotionally respond to your tone, expression, or mood do you think you’d engage with them more often?. Number of responses: 33 responses." id="536" name="Google Shape;536;p59" title="If NPCs could emotionally respond to your tone, expression, or mood do you think you’d engage with them more often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925" y="234325"/>
            <a:ext cx="4949627" cy="2511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rms response chart. Question title: Imagine an NPC could read your mood in real time, for example through your facial expression or tone of voice, and respond dynamically to what you say and hold a conversation.&#10;How comfortable would you feel interacting with a system like that in a game?. Number of responses: 33 responses." id="537" name="Google Shape;537;p59" title="Imagine an NPC could read your mood in real time, for example through your facial expression or tone of voice, and respond dynamically to what you say and hold a conversation.&#10;How comfortable would you feel interacting with a system like that in a game?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5986" y="2571750"/>
            <a:ext cx="4705613" cy="238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60" title="Screenshot 2025-11-12 at 7.50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608551" cy="2405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60" title="Screenshot 2025-11-12 at 7.51.1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0887" y="152550"/>
            <a:ext cx="3810074" cy="2549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60" title="Screenshot 2025-11-12 at 7.51.58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675" y="2701800"/>
            <a:ext cx="3608539" cy="2441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60" title="Screenshot 2025-11-12 at 7.52.45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2545" y="2571750"/>
            <a:ext cx="3584581" cy="24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1"/>
          <p:cNvSpPr/>
          <p:nvPr/>
        </p:nvSpPr>
        <p:spPr>
          <a:xfrm>
            <a:off x="749800" y="-3125"/>
            <a:ext cx="8394200" cy="5149746"/>
          </a:xfrm>
          <a:custGeom>
            <a:rect b="b" l="l" r="r" t="t"/>
            <a:pathLst>
              <a:path extrusionOk="0" h="206444" w="335768">
                <a:moveTo>
                  <a:pt x="31959" y="0"/>
                </a:moveTo>
                <a:lnTo>
                  <a:pt x="0" y="31565"/>
                </a:lnTo>
                <a:lnTo>
                  <a:pt x="0" y="206444"/>
                </a:lnTo>
                <a:lnTo>
                  <a:pt x="335768" y="206444"/>
                </a:lnTo>
                <a:lnTo>
                  <a:pt x="335768" y="292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61"/>
          <p:cNvSpPr/>
          <p:nvPr/>
        </p:nvSpPr>
        <p:spPr>
          <a:xfrm>
            <a:off x="2556275" y="294200"/>
            <a:ext cx="6587725" cy="4878500"/>
          </a:xfrm>
          <a:custGeom>
            <a:rect b="b" l="l" r="r" t="t"/>
            <a:pathLst>
              <a:path extrusionOk="0" h="195140" w="263509">
                <a:moveTo>
                  <a:pt x="32919" y="0"/>
                </a:moveTo>
                <a:lnTo>
                  <a:pt x="0" y="32096"/>
                </a:lnTo>
                <a:lnTo>
                  <a:pt x="60" y="194886"/>
                </a:lnTo>
                <a:lnTo>
                  <a:pt x="263509" y="195140"/>
                </a:lnTo>
                <a:lnTo>
                  <a:pt x="263347" y="0"/>
                </a:lnTo>
                <a:close/>
              </a:path>
            </a:pathLst>
          </a:custGeom>
          <a:solidFill>
            <a:schemeClr val="dk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61"/>
          <p:cNvSpPr/>
          <p:nvPr/>
        </p:nvSpPr>
        <p:spPr>
          <a:xfrm>
            <a:off x="4395250" y="633675"/>
            <a:ext cx="4748750" cy="4539025"/>
          </a:xfrm>
          <a:custGeom>
            <a:rect b="b" l="l" r="r" t="t"/>
            <a:pathLst>
              <a:path extrusionOk="0" h="181561" w="189950">
                <a:moveTo>
                  <a:pt x="189950" y="104"/>
                </a:moveTo>
                <a:lnTo>
                  <a:pt x="30038" y="0"/>
                </a:lnTo>
                <a:lnTo>
                  <a:pt x="0" y="29215"/>
                </a:lnTo>
                <a:lnTo>
                  <a:pt x="466" y="181561"/>
                </a:lnTo>
                <a:lnTo>
                  <a:pt x="189950" y="181561"/>
                </a:lnTo>
                <a:close/>
              </a:path>
            </a:pathLst>
          </a:custGeom>
          <a:solidFill>
            <a:schemeClr val="l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61"/>
          <p:cNvSpPr/>
          <p:nvPr/>
        </p:nvSpPr>
        <p:spPr>
          <a:xfrm>
            <a:off x="6229350" y="969000"/>
            <a:ext cx="2914650" cy="4197350"/>
          </a:xfrm>
          <a:custGeom>
            <a:rect b="b" l="l" r="r" t="t"/>
            <a:pathLst>
              <a:path extrusionOk="0" h="167894" w="116586">
                <a:moveTo>
                  <a:pt x="116582" y="166"/>
                </a:moveTo>
                <a:lnTo>
                  <a:pt x="25645" y="166"/>
                </a:lnTo>
                <a:lnTo>
                  <a:pt x="133" y="25266"/>
                </a:lnTo>
                <a:lnTo>
                  <a:pt x="0" y="167894"/>
                </a:lnTo>
                <a:lnTo>
                  <a:pt x="116383" y="167640"/>
                </a:lnTo>
                <a:lnTo>
                  <a:pt x="116586" y="0"/>
                </a:lnTo>
                <a:close/>
              </a:path>
            </a:pathLst>
          </a:custGeom>
          <a:solidFill>
            <a:schemeClr val="accen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61"/>
          <p:cNvSpPr txBox="1"/>
          <p:nvPr>
            <p:ph idx="14" type="title"/>
          </p:nvPr>
        </p:nvSpPr>
        <p:spPr>
          <a:xfrm>
            <a:off x="474675" y="97704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Players Are Saying (Condensed Themes)</a:t>
            </a:r>
            <a:endParaRPr b="1" sz="2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>
              <a:solidFill>
                <a:schemeClr val="accent4"/>
              </a:solidFill>
              <a:highlight>
                <a:schemeClr val="lt1"/>
              </a:highlight>
            </a:endParaRPr>
          </a:p>
        </p:txBody>
      </p:sp>
      <p:sp>
        <p:nvSpPr>
          <p:cNvPr id="555" name="Google Shape;555;p61"/>
          <p:cNvSpPr txBox="1"/>
          <p:nvPr>
            <p:ph idx="6" type="title"/>
          </p:nvPr>
        </p:nvSpPr>
        <p:spPr>
          <a:xfrm>
            <a:off x="809850" y="1432150"/>
            <a:ext cx="1556400" cy="262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Most players say emotion-aware NPCs would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make the world feel more reactive and alive</a:t>
            </a:r>
            <a:endParaRPr/>
          </a:p>
          <a:p>
            <a:pPr indent="-1295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feel less scripted and more like real conversations</a:t>
            </a:r>
            <a:endParaRPr/>
          </a:p>
          <a:p>
            <a:pPr indent="-1549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increase emotional investment in the story</a:t>
            </a:r>
            <a:endParaRPr/>
          </a:p>
          <a:p>
            <a:pPr indent="-15494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make choices feel more meaningful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biggest and clearest theme.</a:t>
            </a:r>
            <a:endParaRPr/>
          </a:p>
        </p:txBody>
      </p:sp>
      <p:sp>
        <p:nvSpPr>
          <p:cNvPr id="556" name="Google Shape;556;p61"/>
          <p:cNvSpPr txBox="1"/>
          <p:nvPr>
            <p:ph type="title"/>
          </p:nvPr>
        </p:nvSpPr>
        <p:spPr>
          <a:xfrm>
            <a:off x="966625" y="979750"/>
            <a:ext cx="1556400" cy="452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1.Increase immersion &amp; realism</a:t>
            </a:r>
            <a:endParaRPr/>
          </a:p>
        </p:txBody>
      </p:sp>
      <p:sp>
        <p:nvSpPr>
          <p:cNvPr id="557" name="Google Shape;557;p61"/>
          <p:cNvSpPr txBox="1"/>
          <p:nvPr>
            <p:ph idx="7" type="title"/>
          </p:nvPr>
        </p:nvSpPr>
        <p:spPr>
          <a:xfrm>
            <a:off x="2695250" y="1524000"/>
            <a:ext cx="1518300" cy="270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Players expect:</a:t>
            </a:r>
            <a:endParaRPr/>
          </a:p>
          <a:p>
            <a:pPr indent="-129540" lvl="0" marL="182880" rtl="0" algn="l">
              <a:spcBef>
                <a:spcPts val="100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more nuanced interactions</a:t>
            </a:r>
            <a:endParaRPr/>
          </a:p>
          <a:p>
            <a:pPr indent="-129540" lvl="0" marL="182880" rtl="0" algn="l"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Dynamic responses tied to tone, mood, expression</a:t>
            </a:r>
            <a:endParaRPr/>
          </a:p>
          <a:p>
            <a:pPr indent="-154940" lvl="0" marL="18288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the feeling of emergent narrative rather than prewritten dialogue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mention Baldur’s Gate 3 as a reference point, wanting even richer responsiveness.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61"/>
          <p:cNvSpPr txBox="1"/>
          <p:nvPr>
            <p:ph idx="2" type="title"/>
          </p:nvPr>
        </p:nvSpPr>
        <p:spPr>
          <a:xfrm>
            <a:off x="2770788" y="1022800"/>
            <a:ext cx="1376700" cy="36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2. Depth, nuance, and emergent storytelling</a:t>
            </a:r>
            <a:endParaRPr sz="1100"/>
          </a:p>
        </p:txBody>
      </p:sp>
      <p:sp>
        <p:nvSpPr>
          <p:cNvPr id="559" name="Google Shape;559;p61"/>
          <p:cNvSpPr txBox="1"/>
          <p:nvPr>
            <p:ph idx="3" type="title"/>
          </p:nvPr>
        </p:nvSpPr>
        <p:spPr>
          <a:xfrm>
            <a:off x="4572000" y="1022800"/>
            <a:ext cx="1801500" cy="452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 sz="1100"/>
              <a:t>3. Engagement depends on appropriate response quality</a:t>
            </a:r>
            <a:endParaRPr sz="1100"/>
          </a:p>
        </p:txBody>
      </p:sp>
      <p:sp>
        <p:nvSpPr>
          <p:cNvPr id="560" name="Google Shape;560;p61"/>
          <p:cNvSpPr txBox="1"/>
          <p:nvPr>
            <p:ph idx="9" type="title"/>
          </p:nvPr>
        </p:nvSpPr>
        <p:spPr>
          <a:xfrm>
            <a:off x="6798000" y="1106000"/>
            <a:ext cx="2067300" cy="452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4. Player agency &amp; roleplay boundaries matter</a:t>
            </a:r>
            <a:endParaRPr/>
          </a:p>
        </p:txBody>
      </p:sp>
      <p:sp>
        <p:nvSpPr>
          <p:cNvPr id="561" name="Google Shape;561;p61"/>
          <p:cNvSpPr txBox="1"/>
          <p:nvPr>
            <p:ph idx="13" type="title"/>
          </p:nvPr>
        </p:nvSpPr>
        <p:spPr>
          <a:xfrm>
            <a:off x="6665925" y="1603175"/>
            <a:ext cx="2226000" cy="27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 significant minority raise concerns:</a:t>
            </a:r>
            <a:endParaRPr/>
          </a:p>
          <a:p>
            <a:pPr indent="-381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Some play as characters, not as themselves; their real emotion shouldn’t override character intent</a:t>
            </a:r>
            <a:endParaRPr/>
          </a:p>
          <a:p>
            <a:pPr indent="-635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Some worry it could break immersion by making them self-conscious.</a:t>
            </a:r>
            <a:endParaRPr/>
          </a:p>
          <a:p>
            <a:pPr indent="-635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Some don’t express emotion when gaming; worry the system won’t “read” them.</a:t>
            </a:r>
            <a:endParaRPr/>
          </a:p>
          <a:p>
            <a:pPr indent="-635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Some only care if it affects gameplay or progression.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Conclusion: Emotion recognition must supplement, not overwrite, intentional roleplay choices.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61"/>
          <p:cNvSpPr txBox="1"/>
          <p:nvPr>
            <p:ph idx="8" type="title"/>
          </p:nvPr>
        </p:nvSpPr>
        <p:spPr>
          <a:xfrm>
            <a:off x="4547225" y="1603163"/>
            <a:ext cx="1556400" cy="27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Players would engage more if:</a:t>
            </a:r>
            <a:endParaRPr/>
          </a:p>
          <a:p>
            <a:pPr indent="-129540" lvl="0" marL="182880" rtl="0" algn="l">
              <a:spcBef>
                <a:spcPts val="100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Responses are tailored, not generic</a:t>
            </a:r>
            <a:endParaRPr/>
          </a:p>
          <a:p>
            <a:pPr indent="-129540" lvl="0" marL="182880" rtl="0" algn="l">
              <a:spcBef>
                <a:spcPts val="0"/>
              </a:spcBef>
              <a:spcAft>
                <a:spcPts val="0"/>
              </a:spcAft>
              <a:buSzPts val="600"/>
              <a:buFont typeface="Lato"/>
              <a:buChar char="●"/>
            </a:pPr>
            <a:r>
              <a:rPr lang="en"/>
              <a:t>Reactions make sense in context</a:t>
            </a:r>
            <a:endParaRPr/>
          </a:p>
          <a:p>
            <a:pPr indent="-154940" lvl="0" marL="18288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The NPC’s behavior changes in believable ways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Poor or mismatched reactions kill immersion.</a:t>
            </a:r>
            <a:endParaRPr/>
          </a:p>
        </p:txBody>
      </p:sp>
      <p:sp>
        <p:nvSpPr>
          <p:cNvPr id="563" name="Google Shape;563;p61"/>
          <p:cNvSpPr txBox="1"/>
          <p:nvPr/>
        </p:nvSpPr>
        <p:spPr>
          <a:xfrm>
            <a:off x="1177275" y="4076575"/>
            <a:ext cx="53949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Players want an NPC that responds to their emotional cues in subtle, context-aware ways that enrich immersion and story depth—without forcing personal emotions into the game or making interactions feel awkward or mismatched.</a:t>
            </a:r>
            <a:endParaRPr sz="1000">
              <a:solidFill>
                <a:schemeClr val="dk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2"/>
          <p:cNvSpPr txBox="1"/>
          <p:nvPr>
            <p:ph type="title"/>
          </p:nvPr>
        </p:nvSpPr>
        <p:spPr>
          <a:xfrm>
            <a:off x="1102150" y="737425"/>
            <a:ext cx="7318800" cy="1283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Observational Study: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u="sng">
                <a:hlinkClick r:id="rId3"/>
              </a:rPr>
              <a:t>https://docs.google.com/document/d/1aC1gnfLmV-rVHHeTLQ0Rkk2ZaCawcz-V1Vk35924LtA/edit?usp=sharing</a:t>
            </a:r>
            <a:r>
              <a:rPr lang="en" sz="1000"/>
              <a:t>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69" name="Google Shape;569;p62"/>
          <p:cNvSpPr txBox="1"/>
          <p:nvPr>
            <p:ph idx="2" type="title"/>
          </p:nvPr>
        </p:nvSpPr>
        <p:spPr>
          <a:xfrm>
            <a:off x="1328625" y="1524000"/>
            <a:ext cx="6097500" cy="2398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Quantico"/>
                <a:ea typeface="Quantico"/>
                <a:cs typeface="Quantico"/>
                <a:sym typeface="Quantico"/>
              </a:rPr>
              <a:t>This observational study examined emotionally responsive NPC systems across a range of game designs, from narrative-heavy titles like </a:t>
            </a:r>
            <a:r>
              <a:rPr i="1" lang="en" sz="1100">
                <a:latin typeface="Quantico"/>
                <a:ea typeface="Quantico"/>
                <a:cs typeface="Quantico"/>
                <a:sym typeface="Quantico"/>
              </a:rPr>
              <a:t>Baldur’s Gate 3</a:t>
            </a:r>
            <a:r>
              <a:rPr lang="en" sz="1100">
                <a:latin typeface="Quantico"/>
                <a:ea typeface="Quantico"/>
                <a:cs typeface="Quantico"/>
                <a:sym typeface="Quantico"/>
              </a:rPr>
              <a:t>, </a:t>
            </a:r>
            <a:r>
              <a:rPr i="1" lang="en" sz="1100">
                <a:latin typeface="Quantico"/>
                <a:ea typeface="Quantico"/>
                <a:cs typeface="Quantico"/>
                <a:sym typeface="Quantico"/>
              </a:rPr>
              <a:t>Red Dead Redemption 2</a:t>
            </a:r>
            <a:r>
              <a:rPr lang="en" sz="1100">
                <a:latin typeface="Quantico"/>
                <a:ea typeface="Quantico"/>
                <a:cs typeface="Quantico"/>
                <a:sym typeface="Quantico"/>
              </a:rPr>
              <a:t>, and </a:t>
            </a:r>
            <a:r>
              <a:rPr i="1" lang="en" sz="1100">
                <a:latin typeface="Quantico"/>
                <a:ea typeface="Quantico"/>
                <a:cs typeface="Quantico"/>
                <a:sym typeface="Quantico"/>
              </a:rPr>
              <a:t>Undertale</a:t>
            </a:r>
            <a:r>
              <a:rPr lang="en" sz="1100">
                <a:latin typeface="Quantico"/>
                <a:ea typeface="Quantico"/>
                <a:cs typeface="Quantico"/>
                <a:sym typeface="Quantico"/>
              </a:rPr>
              <a:t> to systemic AI-driven experiences such as </a:t>
            </a:r>
            <a:r>
              <a:rPr i="1" lang="en" sz="1100">
                <a:latin typeface="Quantico"/>
                <a:ea typeface="Quantico"/>
                <a:cs typeface="Quantico"/>
                <a:sym typeface="Quantico"/>
              </a:rPr>
              <a:t>Skyrim</a:t>
            </a:r>
            <a:r>
              <a:rPr lang="en" sz="1100">
                <a:latin typeface="Quantico"/>
                <a:ea typeface="Quantico"/>
                <a:cs typeface="Quantico"/>
                <a:sym typeface="Quantico"/>
              </a:rPr>
              <a:t> and the interactive drama </a:t>
            </a:r>
            <a:r>
              <a:rPr i="1" lang="en" sz="1100">
                <a:latin typeface="Quantico"/>
                <a:ea typeface="Quantico"/>
                <a:cs typeface="Quantico"/>
                <a:sym typeface="Quantico"/>
              </a:rPr>
              <a:t>Façade</a:t>
            </a:r>
            <a:r>
              <a:rPr lang="en" sz="1100">
                <a:latin typeface="Quantico"/>
                <a:ea typeface="Quantico"/>
                <a:cs typeface="Quantico"/>
                <a:sym typeface="Quantico"/>
              </a:rPr>
              <a:t>. In these games, emotional engagement emerges from a combination of worldbuilding, facial animation, long-term character arcs, ambient behavior, and systemic AI. NPCs feel emotionally present not because of one isolated mechanic, but because multiple systems—story, environment, animation, and memory—work together to create a holistic sense of social presence.</a:t>
            </a:r>
            <a:endParaRPr sz="1100"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Quantico"/>
                <a:ea typeface="Quantico"/>
                <a:cs typeface="Quantico"/>
                <a:sym typeface="Quantico"/>
              </a:rPr>
              <a:t>In contrast, this project focuses on a modular prototype rather than a full game. The goal is to isolate and test a single component of NPC design: the moment-to-moment emotional interaction loop powered by facial emotion recognition, vocal tone analysis, and adaptive dialogue. Instead of building an entire narrative ecosystem, the prototype functions as a transferable behavior module that could be inserted into different games or engines. Observing commercial games provides a comparative foundation for this work, highlighting how players currently connect with NPCs and helping define the design principles needed for a standalone emotionally responsive NPC system.</a:t>
            </a:r>
            <a:endParaRPr sz="1100"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300"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3"/>
          <p:cNvSpPr/>
          <p:nvPr/>
        </p:nvSpPr>
        <p:spPr>
          <a:xfrm flipH="1" rot="5400000">
            <a:off x="4338150" y="593025"/>
            <a:ext cx="18726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75" name="Google Shape;575;p63"/>
          <p:cNvSpPr/>
          <p:nvPr/>
        </p:nvSpPr>
        <p:spPr>
          <a:xfrm flipH="1" rot="5400000">
            <a:off x="6445650" y="2466025"/>
            <a:ext cx="1869000" cy="2105700"/>
          </a:xfrm>
          <a:prstGeom prst="snip1Rect">
            <a:avLst>
              <a:gd fmla="val 15459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76" name="Google Shape;576;p63"/>
          <p:cNvSpPr txBox="1"/>
          <p:nvPr>
            <p:ph type="title"/>
          </p:nvPr>
        </p:nvSpPr>
        <p:spPr>
          <a:xfrm>
            <a:off x="374600" y="285750"/>
            <a:ext cx="4011000" cy="102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Key Findings: Moment-to-Moment Emotional NPC Interactions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77" name="Google Shape;577;p63"/>
          <p:cNvSpPr txBox="1"/>
          <p:nvPr>
            <p:ph idx="13" type="title"/>
          </p:nvPr>
        </p:nvSpPr>
        <p:spPr>
          <a:xfrm>
            <a:off x="528225" y="1746950"/>
            <a:ext cx="3205200" cy="192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 sz="1100">
                <a:latin typeface="Quantico"/>
                <a:ea typeface="Quantico"/>
                <a:cs typeface="Quantico"/>
                <a:sym typeface="Quantico"/>
              </a:rPr>
              <a:t>Across the analyzed games, emotionally engaging NPC behavior consistently emerged from </a:t>
            </a:r>
            <a:r>
              <a:rPr b="1" lang="en" sz="1100">
                <a:latin typeface="Quantico"/>
                <a:ea typeface="Quantico"/>
                <a:cs typeface="Quantico"/>
                <a:sym typeface="Quantico"/>
              </a:rPr>
              <a:t>immediate, real-time feedback loops</a:t>
            </a:r>
            <a:r>
              <a:rPr lang="en" sz="1100">
                <a:latin typeface="Quantico"/>
                <a:ea typeface="Quantico"/>
                <a:cs typeface="Quantico"/>
                <a:sym typeface="Quantico"/>
              </a:rPr>
              <a:t>. NPCs responded to player actions through micro-expressions, vocal cues, body language, proximity shifts, or rapid changes in behavior</a:t>
            </a:r>
            <a:endParaRPr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en">
                <a:latin typeface="Quantico"/>
                <a:ea typeface="Quantico"/>
                <a:cs typeface="Quantico"/>
                <a:sym typeface="Quantico"/>
              </a:rPr>
              <a:t>Four patterns appeared across all titles:</a:t>
            </a:r>
            <a:endParaRPr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78" name="Google Shape;578;p63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1" lang="en" sz="1100">
                <a:latin typeface="Quantico"/>
                <a:ea typeface="Quantico"/>
                <a:cs typeface="Quantico"/>
                <a:sym typeface="Quantico"/>
              </a:rPr>
              <a:t>Instant emotional cues</a:t>
            </a:r>
            <a:r>
              <a:rPr lang="en" sz="1100">
                <a:latin typeface="Quantico"/>
                <a:ea typeface="Quantico"/>
                <a:cs typeface="Quantico"/>
                <a:sym typeface="Quantico"/>
              </a:rPr>
              <a:t> (facial reactions, tone shifts, warnings, flinches)</a:t>
            </a:r>
            <a:endParaRPr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79" name="Google Shape;579;p63"/>
          <p:cNvSpPr txBox="1"/>
          <p:nvPr>
            <p:ph idx="2" type="title"/>
          </p:nvPr>
        </p:nvSpPr>
        <p:spPr>
          <a:xfrm>
            <a:off x="4399597" y="835425"/>
            <a:ext cx="1703700" cy="482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80" name="Google Shape;580;p63"/>
          <p:cNvSpPr txBox="1"/>
          <p:nvPr>
            <p:ph idx="3" type="title"/>
          </p:nvPr>
        </p:nvSpPr>
        <p:spPr>
          <a:xfrm>
            <a:off x="6496050" y="835425"/>
            <a:ext cx="1856700" cy="482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81" name="Google Shape;581;p63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1" lang="en" sz="1100">
                <a:latin typeface="Quantico"/>
                <a:ea typeface="Quantico"/>
                <a:cs typeface="Quantico"/>
                <a:sym typeface="Quantico"/>
              </a:rPr>
              <a:t>Adaptive behavior</a:t>
            </a:r>
            <a:r>
              <a:rPr lang="en" sz="1100">
                <a:latin typeface="Quantico"/>
                <a:ea typeface="Quantico"/>
                <a:cs typeface="Quantico"/>
                <a:sym typeface="Quantico"/>
              </a:rPr>
              <a:t> that responded to stress, proximity, or player choices.</a:t>
            </a:r>
            <a:endParaRPr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82" name="Google Shape;582;p63"/>
          <p:cNvSpPr txBox="1"/>
          <p:nvPr>
            <p:ph idx="4" type="title"/>
          </p:nvPr>
        </p:nvSpPr>
        <p:spPr>
          <a:xfrm>
            <a:off x="4385600" y="2797575"/>
            <a:ext cx="1776300" cy="45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83" name="Google Shape;583;p63"/>
          <p:cNvSpPr txBox="1"/>
          <p:nvPr>
            <p:ph idx="5" type="title"/>
          </p:nvPr>
        </p:nvSpPr>
        <p:spPr>
          <a:xfrm>
            <a:off x="6496050" y="2797575"/>
            <a:ext cx="1703700" cy="45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584" name="Google Shape;584;p63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b="1" lang="en" sz="1100">
                <a:latin typeface="Quantico"/>
                <a:ea typeface="Quantico"/>
                <a:cs typeface="Quantico"/>
                <a:sym typeface="Quantico"/>
              </a:rPr>
              <a:t>Short-term emotional memory</a:t>
            </a:r>
            <a:r>
              <a:rPr lang="en" sz="1100">
                <a:latin typeface="Quantico"/>
                <a:ea typeface="Quantico"/>
                <a:cs typeface="Quantico"/>
                <a:sym typeface="Quantico"/>
              </a:rPr>
              <a:t> that shaped the next reaction</a:t>
            </a:r>
            <a:endParaRPr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/>
          </a:p>
        </p:txBody>
      </p:sp>
      <p:sp>
        <p:nvSpPr>
          <p:cNvPr id="585" name="Google Shape;585;p63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latin typeface="Quantico"/>
                <a:ea typeface="Quantico"/>
                <a:cs typeface="Quantico"/>
                <a:sym typeface="Quantico"/>
              </a:rPr>
              <a:t>Clear nonverbal communication</a:t>
            </a:r>
            <a:r>
              <a:rPr lang="en" sz="1100">
                <a:latin typeface="Quantico"/>
                <a:ea typeface="Quantico"/>
                <a:cs typeface="Quantico"/>
                <a:sym typeface="Quantico"/>
              </a:rPr>
              <a:t>, especially gaze, posture, and pacing.</a:t>
            </a:r>
            <a:endParaRPr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>
              <a:latin typeface="Quantico"/>
              <a:ea typeface="Quantico"/>
              <a:cs typeface="Quantico"/>
              <a:sym typeface="Quantic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t/>
            </a:r>
            <a:endParaRPr>
              <a:latin typeface="Quantico"/>
              <a:ea typeface="Quantico"/>
              <a:cs typeface="Quantico"/>
              <a:sym typeface="Quantic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64"/>
          <p:cNvSpPr/>
          <p:nvPr/>
        </p:nvSpPr>
        <p:spPr>
          <a:xfrm flipH="1" rot="10800000">
            <a:off x="-10550" y="-6000"/>
            <a:ext cx="8525700" cy="5152200"/>
          </a:xfrm>
          <a:prstGeom prst="snip1Rect">
            <a:avLst>
              <a:gd fmla="val 1783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91" name="Google Shape;591;p64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